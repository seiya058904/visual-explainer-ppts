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6949440" cy="6583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24342F"/>
                </a:solidFill>
                <a:latin typeface="SimHei"/>
              </a:rPr>
              <a:t>健康饮食对身体的影响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353312"/>
            <a:ext cx="5303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3E8E5B"/>
                </a:solidFill>
                <a:latin typeface="SimHei"/>
              </a:rPr>
              <a:t>与不健康饮食的对比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870448"/>
            <a:ext cx="3840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D6C66"/>
                </a:solidFill>
                <a:latin typeface="SimHei"/>
              </a:rPr>
              <a:t>姓名/班级：__________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932688"/>
            <a:ext cx="598932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" y="2029968"/>
            <a:ext cx="2331720" cy="384048"/>
          </a:xfrm>
          <a:prstGeom prst="roundRect">
            <a:avLst/>
          </a:prstGeom>
          <a:solidFill>
            <a:srgbClr val="D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103120"/>
            <a:ext cx="2185415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E8E5B"/>
                </a:solidFill>
                <a:latin typeface="SimHei"/>
              </a:rPr>
              <a:t>8分钟演讲 · 简洁科普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D6C66"/>
                </a:solidFill>
                <a:latin typeface="SimHei"/>
              </a:rPr>
              <a:t>1/10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57607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D6C66"/>
                </a:solidFill>
                <a:latin typeface="SimHei"/>
              </a:rPr>
              <a:t>资料参考：WHO、CDC、Harvard Healthy Eating 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24342F"/>
                </a:solidFill>
                <a:latin typeface="SimHei"/>
              </a:rPr>
              <a:t>什么是健康饮食？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8138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D6C66"/>
                </a:solidFill>
                <a:latin typeface="SimHei"/>
              </a:rPr>
              <a:t>核心：让身体得到需要的营养，同时不过量摄入油、盐、糖。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120640" cy="4069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43891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3E8E5B"/>
                </a:solidFill>
                <a:latin typeface="SimHei"/>
              </a:rPr>
              <a:t>健康饮食不是“只吃菜”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395728"/>
            <a:ext cx="4343400" cy="2560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4342F"/>
                </a:solidFill>
                <a:latin typeface="SimHei"/>
              </a:rPr>
              <a:t>它更像给身体“加合适的燃料”：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24342F"/>
                </a:solidFill>
                <a:latin typeface="SimHe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24342F"/>
                </a:solidFill>
                <a:latin typeface="SimHei"/>
              </a:rPr>
              <a:t>身体需要蛋白质、碳水化合物、脂肪、维生素、矿物质和水。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24342F"/>
                </a:solidFill>
                <a:latin typeface="SimHe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24342F"/>
                </a:solidFill>
                <a:latin typeface="SimHei"/>
              </a:rPr>
              <a:t>吃得均衡，身体才更容易保持精力、免疫力和正常成长。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4480560" cy="3337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03720" y="5138928"/>
            <a:ext cx="3474720" cy="384048"/>
          </a:xfrm>
          <a:prstGeom prst="roundRect">
            <a:avLst/>
          </a:prstGeom>
          <a:solidFill>
            <a:srgbClr val="D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76872" y="5212080"/>
            <a:ext cx="3328415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E8E5B"/>
                </a:solidFill>
                <a:latin typeface="SimHei"/>
              </a:rPr>
              <a:t>不是少吃，而是吃得更合理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D6C66"/>
                </a:solidFill>
                <a:latin typeface="SimHei"/>
              </a:rPr>
              <a:t>2/10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57607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D6C66"/>
                </a:solidFill>
                <a:latin typeface="SimHei"/>
              </a:rPr>
              <a:t>资料参考：WHO、CDC、Harvard Healthy Eating 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24342F"/>
                </a:solidFill>
                <a:latin typeface="SimHei"/>
              </a:rPr>
              <a:t>健康饮食包括什么？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8138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D6C66"/>
                </a:solidFill>
                <a:latin typeface="SimHei"/>
              </a:rPr>
              <a:t>可以把一餐想成一个盘子：多样、适量、颜色丰富。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1993392" cy="3584448"/>
          </a:xfrm>
          <a:prstGeom prst="roundRect">
            <a:avLst/>
          </a:prstGeom>
          <a:solidFill>
            <a:srgbClr val="D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1847088"/>
            <a:ext cx="749808" cy="749808"/>
          </a:xfrm>
          <a:prstGeom prst="ellipse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2048256"/>
            <a:ext cx="2743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Sim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70632"/>
            <a:ext cx="1664208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24342F"/>
                </a:solidFill>
                <a:latin typeface="SimHei"/>
              </a:rPr>
              <a:t>蔬菜水果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310128"/>
            <a:ext cx="1572768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20" b="0">
                <a:solidFill>
                  <a:srgbClr val="5D6C66"/>
                </a:solidFill>
                <a:latin typeface="SimHei"/>
              </a:rPr>
              <a:t>提供维生素、矿物质和膳食纤维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6936" y="1554480"/>
            <a:ext cx="1993392" cy="3584448"/>
          </a:xfrm>
          <a:prstGeom prst="roundRect">
            <a:avLst/>
          </a:prstGeom>
          <a:solidFill>
            <a:srgbClr val="DD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38728" y="1847088"/>
            <a:ext cx="749808" cy="749808"/>
          </a:xfrm>
          <a:prstGeom prst="ellipse">
            <a:avLst/>
          </a:prstGeom>
          <a:solidFill>
            <a:srgbClr val="4E8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9896" y="2048256"/>
            <a:ext cx="2743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Sim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770632"/>
            <a:ext cx="1664208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24342F"/>
                </a:solidFill>
                <a:latin typeface="SimHei"/>
              </a:rPr>
              <a:t>全谷物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8104" y="3310128"/>
            <a:ext cx="1572768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20" b="0">
                <a:solidFill>
                  <a:srgbClr val="5D6C66"/>
                </a:solidFill>
                <a:latin typeface="SimHei"/>
              </a:rPr>
              <a:t>比如燕麦、玉米、糙米，饱腹更久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1554480"/>
            <a:ext cx="1993392" cy="3584448"/>
          </a:xfrm>
          <a:prstGeom prst="roundRect">
            <a:avLst/>
          </a:prstGeom>
          <a:solidFill>
            <a:srgbClr val="D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97296" y="1847088"/>
            <a:ext cx="749808" cy="749808"/>
          </a:xfrm>
          <a:prstGeom prst="ellipse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8464" y="2048256"/>
            <a:ext cx="2743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Sim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2770632"/>
            <a:ext cx="1664208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24342F"/>
                </a:solidFill>
                <a:latin typeface="SimHei"/>
              </a:rPr>
              <a:t>优质蛋白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3310128"/>
            <a:ext cx="1572768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20" b="0">
                <a:solidFill>
                  <a:srgbClr val="5D6C66"/>
                </a:solidFill>
                <a:latin typeface="SimHei"/>
              </a:rPr>
              <a:t>鸡蛋、鱼、豆制品、瘦肉，帮助身体修复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34072" y="1554480"/>
            <a:ext cx="1993392" cy="3584448"/>
          </a:xfrm>
          <a:prstGeom prst="roundRect">
            <a:avLst/>
          </a:prstGeom>
          <a:solidFill>
            <a:srgbClr val="FC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55864" y="1847088"/>
            <a:ext cx="749808" cy="749808"/>
          </a:xfrm>
          <a:prstGeom prst="ellipse">
            <a:avLst/>
          </a:prstGeom>
          <a:solidFill>
            <a:srgbClr val="E8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2" y="2048256"/>
            <a:ext cx="2743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Sim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2770632"/>
            <a:ext cx="1664208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24342F"/>
                </a:solidFill>
                <a:latin typeface="SimHei"/>
              </a:rPr>
              <a:t>健康脂肪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310128"/>
            <a:ext cx="1572768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20" b="0">
                <a:solidFill>
                  <a:srgbClr val="5D6C66"/>
                </a:solidFill>
                <a:latin typeface="SimHei"/>
              </a:rPr>
              <a:t>坚果、鱼类等，注意适量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1554480"/>
            <a:ext cx="1993392" cy="3584448"/>
          </a:xfrm>
          <a:prstGeom prst="roundRect">
            <a:avLst/>
          </a:prstGeom>
          <a:solidFill>
            <a:srgbClr val="DD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14432" y="1847088"/>
            <a:ext cx="749808" cy="749808"/>
          </a:xfrm>
          <a:prstGeom prst="ellipse">
            <a:avLst/>
          </a:prstGeom>
          <a:solidFill>
            <a:srgbClr val="4E8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0" y="2048256"/>
            <a:ext cx="2743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Sim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2770632"/>
            <a:ext cx="1664208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24342F"/>
                </a:solidFill>
                <a:latin typeface="SimHei"/>
              </a:rPr>
              <a:t>足够饮水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3808" y="3310128"/>
            <a:ext cx="1572768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20" b="0">
                <a:solidFill>
                  <a:srgbClr val="5D6C66"/>
                </a:solidFill>
                <a:latin typeface="SimHei"/>
              </a:rPr>
              <a:t>少用甜饮料代替水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5532120"/>
            <a:ext cx="69494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3E8E5B"/>
                </a:solidFill>
                <a:latin typeface="SimHei"/>
              </a:rPr>
              <a:t>小提示：一餐不用完美，但一天尽量多样。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D6C66"/>
                </a:solidFill>
                <a:latin typeface="SimHei"/>
              </a:rPr>
              <a:t>3/10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46520"/>
            <a:ext cx="57607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D6C66"/>
                </a:solidFill>
                <a:latin typeface="SimHei"/>
              </a:rPr>
              <a:t>资料参考：WHO、CDC、Harvard Healthy Eating 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24342F"/>
                </a:solidFill>
                <a:latin typeface="SimHei"/>
              </a:rPr>
              <a:t>不健康饮食常见表现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8138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D6C66"/>
                </a:solidFill>
                <a:latin typeface="SimHei"/>
              </a:rPr>
              <a:t>问题通常不在“偶尔吃一次”，而在“经常这样吃”。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4480560"/>
          </a:xfrm>
          <a:prstGeom prst="roundRect">
            <a:avLst/>
          </a:prstGeom>
          <a:solidFill>
            <a:srgbClr val="FC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19072"/>
            <a:ext cx="19202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E86F3A"/>
                </a:solidFill>
                <a:latin typeface="SimHei"/>
              </a:rPr>
              <a:t>常见情况</a:t>
            </a:r>
          </a:p>
        </p:txBody>
      </p:sp>
      <p:sp>
        <p:nvSpPr>
          <p:cNvPr id="7" name="Oval 6"/>
          <p:cNvSpPr/>
          <p:nvPr/>
        </p:nvSpPr>
        <p:spPr>
          <a:xfrm>
            <a:off x="987552" y="2432303"/>
            <a:ext cx="118872" cy="118872"/>
          </a:xfrm>
          <a:prstGeom prst="ellipse">
            <a:avLst/>
          </a:prstGeom>
          <a:solidFill>
            <a:srgbClr val="E8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2359151"/>
            <a:ext cx="41605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24342F"/>
                </a:solidFill>
                <a:latin typeface="SimHei"/>
              </a:rPr>
              <a:t>油炸食品吃得多</a:t>
            </a:r>
          </a:p>
        </p:txBody>
      </p:sp>
      <p:sp>
        <p:nvSpPr>
          <p:cNvPr id="9" name="Oval 8"/>
          <p:cNvSpPr/>
          <p:nvPr/>
        </p:nvSpPr>
        <p:spPr>
          <a:xfrm>
            <a:off x="987552" y="2926079"/>
            <a:ext cx="118872" cy="118872"/>
          </a:xfrm>
          <a:prstGeom prst="ellipse">
            <a:avLst/>
          </a:prstGeom>
          <a:solidFill>
            <a:srgbClr val="E8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2" y="2852927"/>
            <a:ext cx="41605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24342F"/>
                </a:solidFill>
                <a:latin typeface="SimHei"/>
              </a:rPr>
              <a:t>含糖饮料喝得多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3419856"/>
            <a:ext cx="118872" cy="118872"/>
          </a:xfrm>
          <a:prstGeom prst="ellipse">
            <a:avLst/>
          </a:prstGeom>
          <a:solidFill>
            <a:srgbClr val="E8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16152" y="3346703"/>
            <a:ext cx="41605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24342F"/>
                </a:solidFill>
                <a:latin typeface="SimHei"/>
              </a:rPr>
              <a:t>高盐零食、加工食品多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3913632"/>
            <a:ext cx="118872" cy="118872"/>
          </a:xfrm>
          <a:prstGeom prst="ellipse">
            <a:avLst/>
          </a:prstGeom>
          <a:solidFill>
            <a:srgbClr val="E8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3840480"/>
            <a:ext cx="41605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24342F"/>
                </a:solidFill>
                <a:latin typeface="SimHei"/>
              </a:rPr>
              <a:t>蔬菜水果吃得少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407408"/>
            <a:ext cx="118872" cy="118872"/>
          </a:xfrm>
          <a:prstGeom prst="ellipse">
            <a:avLst/>
          </a:prstGeom>
          <a:solidFill>
            <a:srgbClr val="E8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2" y="4334256"/>
            <a:ext cx="41605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24342F"/>
                </a:solidFill>
                <a:latin typeface="SimHei"/>
              </a:rPr>
              <a:t>三餐不规律，常常随便吃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44752"/>
            <a:ext cx="4480560" cy="33375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400800" y="4956048"/>
            <a:ext cx="448056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956048"/>
            <a:ext cx="91440" cy="786384"/>
          </a:xfrm>
          <a:prstGeom prst="rect">
            <a:avLst/>
          </a:prstGeom>
          <a:solidFill>
            <a:srgbClr val="E8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5120640"/>
            <a:ext cx="41148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4342F"/>
                </a:solidFill>
                <a:latin typeface="SimHei"/>
              </a:rPr>
              <a:t>容易带来的问题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532120"/>
            <a:ext cx="4114800" cy="100583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5D6C66"/>
                </a:solidFill>
                <a:latin typeface="SimHei"/>
              </a:rPr>
              <a:t>热量高、营养少，身体容易“吃饱了却没吃好”。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D6C66"/>
                </a:solidFill>
                <a:latin typeface="SimHei"/>
              </a:rPr>
              <a:t>4/10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46520"/>
            <a:ext cx="57607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D6C66"/>
                </a:solidFill>
                <a:latin typeface="SimHei"/>
              </a:rPr>
              <a:t>资料参考：WHO、CDC、Harvard Healthy Eating 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24342F"/>
                </a:solidFill>
                <a:latin typeface="SimHei"/>
              </a:rPr>
              <a:t>对能量和体重的影响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8138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D6C66"/>
                </a:solidFill>
                <a:latin typeface="SimHei"/>
              </a:rPr>
              <a:t>身体的能量像电池：稳定供能，比忽高忽低更舒服。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417320"/>
            <a:ext cx="10287000" cy="3611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60120" y="5193792"/>
            <a:ext cx="48463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5193792"/>
            <a:ext cx="91440" cy="868680"/>
          </a:xfrm>
          <a:prstGeom prst="rect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5358383"/>
            <a:ext cx="4480559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4342F"/>
                </a:solidFill>
                <a:latin typeface="SimHei"/>
              </a:rPr>
              <a:t>健康饮食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769864"/>
            <a:ext cx="4480559" cy="1828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5D6C66"/>
                </a:solidFill>
                <a:latin typeface="SimHei"/>
              </a:rPr>
              <a:t>更容易有稳定精力，饱腹感更久，体重管理压力较小。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5193792"/>
            <a:ext cx="48463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5193792"/>
            <a:ext cx="91440" cy="868680"/>
          </a:xfrm>
          <a:prstGeom prst="rect">
            <a:avLst/>
          </a:prstGeom>
          <a:solidFill>
            <a:srgbClr val="D9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5358383"/>
            <a:ext cx="4480559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4342F"/>
                </a:solidFill>
                <a:latin typeface="SimHei"/>
              </a:rPr>
              <a:t>不健康饮食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769864"/>
            <a:ext cx="4480559" cy="1828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5D6C66"/>
                </a:solidFill>
                <a:latin typeface="SimHei"/>
              </a:rPr>
              <a:t>高糖高油食物容易让热量超标，也可能让饥饿感来得更快。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D6C66"/>
                </a:solidFill>
                <a:latin typeface="SimHei"/>
              </a:rPr>
              <a:t>5/10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57607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D6C66"/>
                </a:solidFill>
                <a:latin typeface="SimHei"/>
              </a:rPr>
              <a:t>资料参考：WHO、CDC、Harvard Healthy Eating 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24342F"/>
                </a:solidFill>
                <a:latin typeface="SimHei"/>
              </a:rPr>
              <a:t>对心脏和血管的影响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8138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D6C66"/>
                </a:solidFill>
                <a:latin typeface="SimHei"/>
              </a:rPr>
              <a:t>可以把血管想成水管：饮食习惯会影响它长期工作的压力。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389888"/>
            <a:ext cx="102870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5239512"/>
            <a:ext cx="1920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3E8E5B"/>
                </a:solidFill>
                <a:latin typeface="SimHei"/>
              </a:rPr>
              <a:t>更友好的习惯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605272"/>
            <a:ext cx="3657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24342F"/>
                </a:solidFill>
                <a:latin typeface="SimHei"/>
              </a:rPr>
              <a:t>少盐、少反式脂肪，多蔬果和全谷物。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5239512"/>
            <a:ext cx="1920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D95F5F"/>
                </a:solidFill>
                <a:latin typeface="SimHei"/>
              </a:rPr>
              <a:t>更大的负担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5605272"/>
            <a:ext cx="40233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24342F"/>
                </a:solidFill>
                <a:latin typeface="SimHei"/>
              </a:rPr>
              <a:t>长期高盐、高油、高加工饮食会增加身体负担。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D6C66"/>
                </a:solidFill>
                <a:latin typeface="SimHei"/>
              </a:rPr>
              <a:t>6/10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57607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D6C66"/>
                </a:solidFill>
                <a:latin typeface="SimHei"/>
              </a:rPr>
              <a:t>资料参考：WHO、CDC、Harvard Healthy Eating Plate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24342F"/>
                </a:solidFill>
                <a:latin typeface="SimHei"/>
              </a:rPr>
              <a:t>对学习和精神状态的影响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8138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D6C66"/>
                </a:solidFill>
                <a:latin typeface="SimHei"/>
              </a:rPr>
              <a:t>学生每天要上课、写作业、运动，饮食会影响这些状态。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53312"/>
            <a:ext cx="5212080" cy="321868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46520" y="1417320"/>
            <a:ext cx="45262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84848" y="1737360"/>
            <a:ext cx="31089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3E8E5B"/>
                </a:solidFill>
                <a:latin typeface="SimHei"/>
              </a:rPr>
              <a:t>更适合学习的饮食</a:t>
            </a:r>
          </a:p>
        </p:txBody>
      </p:sp>
      <p:sp>
        <p:nvSpPr>
          <p:cNvPr id="8" name="Oval 7"/>
          <p:cNvSpPr/>
          <p:nvPr/>
        </p:nvSpPr>
        <p:spPr>
          <a:xfrm>
            <a:off x="6812280" y="2523744"/>
            <a:ext cx="118872" cy="118872"/>
          </a:xfrm>
          <a:prstGeom prst="ellipse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450591"/>
            <a:ext cx="338328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30" b="0">
                <a:solidFill>
                  <a:srgbClr val="24342F"/>
                </a:solidFill>
                <a:latin typeface="SimHei"/>
              </a:rPr>
              <a:t>吃早餐，上午更不容易饿</a:t>
            </a:r>
          </a:p>
        </p:txBody>
      </p:sp>
      <p:sp>
        <p:nvSpPr>
          <p:cNvPr id="10" name="Oval 9"/>
          <p:cNvSpPr/>
          <p:nvPr/>
        </p:nvSpPr>
        <p:spPr>
          <a:xfrm>
            <a:off x="6812280" y="3026664"/>
            <a:ext cx="118872" cy="118872"/>
          </a:xfrm>
          <a:prstGeom prst="ellipse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2953512"/>
            <a:ext cx="338328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30" b="0">
                <a:solidFill>
                  <a:srgbClr val="24342F"/>
                </a:solidFill>
                <a:latin typeface="SimHei"/>
              </a:rPr>
              <a:t>喝水，减少甜饮料</a:t>
            </a:r>
          </a:p>
        </p:txBody>
      </p:sp>
      <p:sp>
        <p:nvSpPr>
          <p:cNvPr id="12" name="Oval 11"/>
          <p:cNvSpPr/>
          <p:nvPr/>
        </p:nvSpPr>
        <p:spPr>
          <a:xfrm>
            <a:off x="6812280" y="3529584"/>
            <a:ext cx="118872" cy="118872"/>
          </a:xfrm>
          <a:prstGeom prst="ellipse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3456432"/>
            <a:ext cx="338328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30" b="0">
                <a:solidFill>
                  <a:srgbClr val="24342F"/>
                </a:solidFill>
                <a:latin typeface="SimHei"/>
              </a:rPr>
              <a:t>主食、蛋白质、蔬果搭配</a:t>
            </a:r>
          </a:p>
        </p:txBody>
      </p:sp>
      <p:sp>
        <p:nvSpPr>
          <p:cNvPr id="14" name="Oval 13"/>
          <p:cNvSpPr/>
          <p:nvPr/>
        </p:nvSpPr>
        <p:spPr>
          <a:xfrm>
            <a:off x="6812280" y="4032504"/>
            <a:ext cx="118872" cy="118872"/>
          </a:xfrm>
          <a:prstGeom prst="ellipse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3959352"/>
            <a:ext cx="338328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30" b="0">
                <a:solidFill>
                  <a:srgbClr val="24342F"/>
                </a:solidFill>
                <a:latin typeface="SimHei"/>
              </a:rPr>
              <a:t>零食不过量，避免影响正餐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5358384"/>
            <a:ext cx="3474720" cy="384048"/>
          </a:xfrm>
          <a:prstGeom prst="roundRect">
            <a:avLst/>
          </a:prstGeom>
          <a:solidFill>
            <a:srgbClr val="DD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5431536"/>
            <a:ext cx="3328415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4E89AE"/>
                </a:solidFill>
                <a:latin typeface="SimHei"/>
              </a:rPr>
              <a:t>重点：让大脑有稳定能量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D6C66"/>
                </a:solidFill>
                <a:latin typeface="SimHei"/>
              </a:rPr>
              <a:t>7/10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7607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D6C66"/>
                </a:solidFill>
                <a:latin typeface="SimHei"/>
              </a:rPr>
              <a:t>资料参考：WHO、CDC、Harvard Healthy Eating Plate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24342F"/>
                </a:solidFill>
                <a:latin typeface="SimHei"/>
              </a:rPr>
              <a:t>一日饮食对比例子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8138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D6C66"/>
                </a:solidFill>
                <a:latin typeface="SimHei"/>
              </a:rPr>
              <a:t>同样是一天，选择不同，身体得到的东西也不同。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5349240" cy="4526280"/>
          </a:xfrm>
          <a:prstGeom prst="roundRect">
            <a:avLst/>
          </a:prstGeom>
          <a:solidFill>
            <a:srgbClr val="D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0488" y="1325880"/>
            <a:ext cx="5349240" cy="4526280"/>
          </a:xfrm>
          <a:prstGeom prst="roundRect">
            <a:avLst/>
          </a:prstGeom>
          <a:solidFill>
            <a:srgbClr val="FC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21031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3E8E5B"/>
                </a:solidFill>
                <a:latin typeface="SimHei"/>
              </a:rPr>
              <a:t>健康一天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81912"/>
            <a:ext cx="25603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E86F3A"/>
                </a:solidFill>
                <a:latin typeface="SimHei"/>
              </a:rPr>
              <a:t>不健康一天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148840"/>
            <a:ext cx="457200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276856"/>
            <a:ext cx="7315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3E8E5B"/>
                </a:solidFill>
                <a:latin typeface="SimHei"/>
              </a:rPr>
              <a:t>早餐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258568"/>
            <a:ext cx="3429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4342F"/>
                </a:solidFill>
                <a:latin typeface="SimHei"/>
              </a:rPr>
              <a:t>燕麦/全麦面包 + 鸡蛋 + 水果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148840"/>
            <a:ext cx="457200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2276856"/>
            <a:ext cx="7315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E86F3A"/>
                </a:solidFill>
                <a:latin typeface="SimHei"/>
              </a:rPr>
              <a:t>早餐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258568"/>
            <a:ext cx="3429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4342F"/>
                </a:solidFill>
                <a:latin typeface="SimHei"/>
              </a:rPr>
              <a:t>不吃，或只喝甜饮料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2953512"/>
            <a:ext cx="457200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081528"/>
            <a:ext cx="7315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3E8E5B"/>
                </a:solidFill>
                <a:latin typeface="SimHei"/>
              </a:rPr>
              <a:t>午餐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063240"/>
            <a:ext cx="3429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4342F"/>
                </a:solidFill>
                <a:latin typeface="SimHei"/>
              </a:rPr>
              <a:t>米饭/杂粮饭 + 蔬菜 + 鱼/豆腐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953512"/>
            <a:ext cx="457200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3081528"/>
            <a:ext cx="7315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E86F3A"/>
                </a:solidFill>
                <a:latin typeface="SimHei"/>
              </a:rPr>
              <a:t>午餐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063240"/>
            <a:ext cx="3429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4342F"/>
                </a:solidFill>
                <a:latin typeface="SimHei"/>
              </a:rPr>
              <a:t>炸鸡/薯条 + 含糖饮料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3758184"/>
            <a:ext cx="457200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886200"/>
            <a:ext cx="7315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3E8E5B"/>
                </a:solidFill>
                <a:latin typeface="SimHei"/>
              </a:rPr>
              <a:t>加餐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867912"/>
            <a:ext cx="3429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4342F"/>
                </a:solidFill>
                <a:latin typeface="SimHei"/>
              </a:rPr>
              <a:t>水果、酸奶或少量坚果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758184"/>
            <a:ext cx="457200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7688" y="3886200"/>
            <a:ext cx="7315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E86F3A"/>
                </a:solidFill>
                <a:latin typeface="SimHei"/>
              </a:rPr>
              <a:t>加餐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867912"/>
            <a:ext cx="3429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4342F"/>
                </a:solidFill>
                <a:latin typeface="SimHei"/>
              </a:rPr>
              <a:t>薯片、糖果、奶茶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" y="4562856"/>
            <a:ext cx="457200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4690872"/>
            <a:ext cx="7315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3E8E5B"/>
                </a:solidFill>
                <a:latin typeface="SimHei"/>
              </a:rPr>
              <a:t>晚餐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672584"/>
            <a:ext cx="3429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4342F"/>
                </a:solidFill>
                <a:latin typeface="SimHei"/>
              </a:rPr>
              <a:t>清淡主食 + 蔬菜 + 优质蛋白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4562856"/>
            <a:ext cx="457200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47688" y="4690872"/>
            <a:ext cx="7315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E86F3A"/>
                </a:solidFill>
                <a:latin typeface="SimHei"/>
              </a:rPr>
              <a:t>晚餐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4672584"/>
            <a:ext cx="3429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4342F"/>
                </a:solidFill>
                <a:latin typeface="SimHei"/>
              </a:rPr>
              <a:t>方便面、烧烤或外卖重口味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6071616"/>
            <a:ext cx="87782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5D6C66"/>
                </a:solidFill>
                <a:latin typeface="SimHei"/>
              </a:rPr>
              <a:t>这不是要求每天完全一样，而是提醒我们：日常选择会慢慢影响身体。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D6C66"/>
                </a:solidFill>
                <a:latin typeface="SimHei"/>
              </a:rPr>
              <a:t>8/10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446520"/>
            <a:ext cx="57607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D6C66"/>
                </a:solidFill>
                <a:latin typeface="SimHei"/>
              </a:rPr>
              <a:t>资料参考：WHO、CDC、Harvard Healthy Eating Plate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24342F"/>
                </a:solidFill>
                <a:latin typeface="SimHei"/>
              </a:rPr>
              <a:t>我们可以怎么做？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8138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D6C66"/>
                </a:solidFill>
                <a:latin typeface="SimHei"/>
              </a:rPr>
              <a:t>从小改变开始，不需要一下子做到完美。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72768"/>
            <a:ext cx="4160520" cy="321868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532120" y="1325880"/>
            <a:ext cx="55321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25312" y="1755648"/>
            <a:ext cx="347472" cy="347472"/>
          </a:xfrm>
          <a:prstGeom prst="ellipse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783080"/>
            <a:ext cx="2286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SimHe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746504"/>
            <a:ext cx="41605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24342F"/>
                </a:solidFill>
                <a:latin typeface="SimHei"/>
              </a:rPr>
              <a:t>少喝含糖饮料，多喝白水</a:t>
            </a:r>
          </a:p>
        </p:txBody>
      </p:sp>
      <p:sp>
        <p:nvSpPr>
          <p:cNvPr id="10" name="Oval 9"/>
          <p:cNvSpPr/>
          <p:nvPr/>
        </p:nvSpPr>
        <p:spPr>
          <a:xfrm>
            <a:off x="5925312" y="2468880"/>
            <a:ext cx="347472" cy="347472"/>
          </a:xfrm>
          <a:prstGeom prst="ellipse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2496312"/>
            <a:ext cx="2286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SimHe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59736"/>
            <a:ext cx="41605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24342F"/>
                </a:solidFill>
                <a:latin typeface="SimHei"/>
              </a:rPr>
              <a:t>每天多吃一点蔬菜和水果</a:t>
            </a:r>
          </a:p>
        </p:txBody>
      </p:sp>
      <p:sp>
        <p:nvSpPr>
          <p:cNvPr id="13" name="Oval 12"/>
          <p:cNvSpPr/>
          <p:nvPr/>
        </p:nvSpPr>
        <p:spPr>
          <a:xfrm>
            <a:off x="5925312" y="3182112"/>
            <a:ext cx="347472" cy="347472"/>
          </a:xfrm>
          <a:prstGeom prst="ellipse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3209544"/>
            <a:ext cx="2286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SimHe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172968"/>
            <a:ext cx="41605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24342F"/>
                </a:solidFill>
                <a:latin typeface="SimHei"/>
              </a:rPr>
              <a:t>少吃油炸食品和重口味零食</a:t>
            </a:r>
          </a:p>
        </p:txBody>
      </p:sp>
      <p:sp>
        <p:nvSpPr>
          <p:cNvPr id="16" name="Oval 15"/>
          <p:cNvSpPr/>
          <p:nvPr/>
        </p:nvSpPr>
        <p:spPr>
          <a:xfrm>
            <a:off x="5925312" y="3895344"/>
            <a:ext cx="347472" cy="347472"/>
          </a:xfrm>
          <a:prstGeom prst="ellipse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3922776"/>
            <a:ext cx="2286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Sim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886200"/>
            <a:ext cx="41605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24342F"/>
                </a:solidFill>
                <a:latin typeface="SimHei"/>
              </a:rPr>
              <a:t>买包装食品时看配料表和营养成分</a:t>
            </a:r>
          </a:p>
        </p:txBody>
      </p:sp>
      <p:sp>
        <p:nvSpPr>
          <p:cNvPr id="19" name="Oval 18"/>
          <p:cNvSpPr/>
          <p:nvPr/>
        </p:nvSpPr>
        <p:spPr>
          <a:xfrm>
            <a:off x="5925312" y="4608576"/>
            <a:ext cx="347472" cy="347472"/>
          </a:xfrm>
          <a:prstGeom prst="ellipse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4636008"/>
            <a:ext cx="2286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SimHe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99432"/>
            <a:ext cx="41605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24342F"/>
                </a:solidFill>
                <a:latin typeface="SimHei"/>
              </a:rPr>
              <a:t>三餐尽量规律，不用零食代替正餐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5212080"/>
            <a:ext cx="4069080" cy="384048"/>
          </a:xfrm>
          <a:prstGeom prst="roundRect">
            <a:avLst/>
          </a:prstGeom>
          <a:solidFill>
            <a:srgbClr val="D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5285232"/>
            <a:ext cx="3922776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E8E5B"/>
                </a:solidFill>
                <a:latin typeface="SimHei"/>
              </a:rPr>
              <a:t>记住：先做到一两条，也是在进步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D6C66"/>
                </a:solidFill>
                <a:latin typeface="SimHei"/>
              </a:rPr>
              <a:t>9/10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46520"/>
            <a:ext cx="57607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D6C66"/>
                </a:solidFill>
                <a:latin typeface="SimHei"/>
              </a:rPr>
              <a:t>资料参考：WHO、CDC、Harvard Healthy Eating Plate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30352"/>
            <a:ext cx="22860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24342F"/>
                </a:solidFill>
                <a:latin typeface="SimHei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9669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3E8E5B"/>
                </a:solidFill>
                <a:latin typeface="SimHei"/>
              </a:rPr>
              <a:t>健康饮食不是“完全不能吃喜欢的食物”，而是学会长期平衡。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303520" cy="2788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37960" y="1901952"/>
            <a:ext cx="4434840" cy="2697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39712" y="2212848"/>
            <a:ext cx="25603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24342F"/>
                </a:solidFill>
                <a:latin typeface="SimHei"/>
              </a:rPr>
              <a:t>带走三句话</a:t>
            </a:r>
          </a:p>
        </p:txBody>
      </p:sp>
      <p:sp>
        <p:nvSpPr>
          <p:cNvPr id="8" name="Oval 7"/>
          <p:cNvSpPr/>
          <p:nvPr/>
        </p:nvSpPr>
        <p:spPr>
          <a:xfrm>
            <a:off x="6903720" y="2935224"/>
            <a:ext cx="118872" cy="118872"/>
          </a:xfrm>
          <a:prstGeom prst="ellipse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862072"/>
            <a:ext cx="32004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4342F"/>
                </a:solidFill>
                <a:latin typeface="SimHei"/>
              </a:rPr>
              <a:t>多一点蔬果和全谷物</a:t>
            </a:r>
          </a:p>
        </p:txBody>
      </p:sp>
      <p:sp>
        <p:nvSpPr>
          <p:cNvPr id="10" name="Oval 9"/>
          <p:cNvSpPr/>
          <p:nvPr/>
        </p:nvSpPr>
        <p:spPr>
          <a:xfrm>
            <a:off x="6903720" y="3407664"/>
            <a:ext cx="118872" cy="118872"/>
          </a:xfrm>
          <a:prstGeom prst="ellipse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3334512"/>
            <a:ext cx="32004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4342F"/>
                </a:solidFill>
                <a:latin typeface="SimHei"/>
              </a:rPr>
              <a:t>少一点油、盐、糖</a:t>
            </a:r>
          </a:p>
        </p:txBody>
      </p:sp>
      <p:sp>
        <p:nvSpPr>
          <p:cNvPr id="12" name="Oval 11"/>
          <p:cNvSpPr/>
          <p:nvPr/>
        </p:nvSpPr>
        <p:spPr>
          <a:xfrm>
            <a:off x="6903720" y="3880104"/>
            <a:ext cx="118872" cy="118872"/>
          </a:xfrm>
          <a:prstGeom prst="ellipse">
            <a:avLst/>
          </a:prstGeom>
          <a:solidFill>
            <a:srgbClr val="3E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3806952"/>
            <a:ext cx="32004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4342F"/>
                </a:solidFill>
                <a:latin typeface="SimHei"/>
              </a:rPr>
              <a:t>规律一点，长期坚持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559552"/>
            <a:ext cx="10287000" cy="658368"/>
          </a:xfrm>
          <a:prstGeom prst="roundRect">
            <a:avLst/>
          </a:prstGeom>
          <a:solidFill>
            <a:srgbClr val="DD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751576"/>
            <a:ext cx="9875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D6C66"/>
                </a:solidFill>
                <a:latin typeface="SimHei"/>
              </a:rPr>
              <a:t>资料来源：世界卫生组织（WHO）健康饮食说明；美国 CDC 健康饮食建议；Harvard Healthy Eating Plate。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D6C66"/>
                </a:solidFill>
                <a:latin typeface="SimHei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